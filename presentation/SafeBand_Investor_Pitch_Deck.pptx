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MEDTECH &amp; IOT HEALTHCARE WEARABLE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AI-Powered Smart Fall Detection &amp; Vitals Monitoring Wearable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Dignified independence for older adults with zero-delay caregiver peace of mind.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edge TinyML fall recognition, continuous SpO2/BPM telemetry, and multi-channel emergency dispatch.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46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Watch Styling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484632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4846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TinyML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484632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846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 Cancel Window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484632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846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&amp; Cloud GPS</a:t>
            </a:r>
            <a:endParaRPr lang="en-US" sz="1000" dirty="0"/>
          </a:p>
        </p:txBody>
      </p:sp>
      <p:pic>
        <p:nvPicPr>
          <p:cNvPr id="14" name="Image 0" descr="D:\PROJECTS\safeband\safeband-v2-dashboard\presentation\safeband_product_re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4297680" cy="429768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NEED &amp; CLINICAL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'Long Lie' Epidemic in Elderly Care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37.3M+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per Year Globally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3 adults over 65 suffers a serious fall every year (WHO)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Golden Window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Lying immobilized &gt;1 hr ('long lie') doubles 6-month mortality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Bathroom &amp; Living Room Falls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falls happen at home when devices are left on bedside tables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SOLUTIONS FAIL: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7490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Hospital Pendants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Ugly, stigmatizing panic buttons. 80% of seniors refuse to wear them out of pride or leave them charging.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37490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Smartwatches (Apple/Galaxy)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($400+), battery dies in 18 hrs, high false-alarm rates from everyday gestures, requires expensive smartphones.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74904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931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Fitness Bands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44348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true fall algorithms, no emergency SOS countdown, no autonomous caregiver escalation or location sharing.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SafeBand: Normal Smartwatch Styling with Lifesaving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safeband_product_re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114800" cy="41148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4630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Normal Watch Appearance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 a stylish digital watch. Zero stigma for the wearer.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14630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Multi-Tier Fall Verification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36676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free-fall, impact (&gt;2.5g), immobility analysis, and on-device ML.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20640" y="28346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10-Second Auto-Countdown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3337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Vibrates and beeps before calling help. 1-touch cancel prevents false alarms.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28346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2971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Continuous Vitals Monitoring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66760" y="3337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PPG tracking of Heart Rate (BPM) and Blood Oxygen (SpO2).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20640" y="42062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5780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Autonomous WhatsApp Alerts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5780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instant WhatsApp message with Google Maps pin directly to caregivers.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0" y="42062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6676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Caregiver Web/Mobile Dashboard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4709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vitals graphs, live location map, and full emergency log.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Prototype: ESP32-S3 with 1.28" Round Touch LCD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esp32_s3_round_lc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840480" cy="43891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46304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554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MCU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Dual-Core Xtensa LX7 @ 240MHz (Vector Instructions for On-Device AI)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210312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1.28-inch Round IPS LCD, 240×240 Resolution, GC9A01 Driver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74320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Controller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0" y="2834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CST816S High-Sensitivity Capacitive Touch with gesture detection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338328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3474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IMU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4088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QMI8658 6-Axis Motion Sensor (3-Axis Accelerometer + 3-Axis Gyroscope)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402336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040880" y="4114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512KB SRAM, 8MB PSRAM, 16MB Flash memory for TinyML neural networks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466344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40880" y="4754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GHz Wi-Fi (802.11 b/g/n) + Bluetooth 5 (LE) with Long Range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5303520"/>
            <a:ext cx="6583680" cy="548640"/>
          </a:xfrm>
          <a:prstGeom prst="roundRect">
            <a:avLst>
              <a:gd name="adj" fmla="val 1333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Charge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40880" y="5394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Type-C programming &amp; integrated Lithium-Polymer battery management IC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Watch Face &amp; Intuitive Safety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safeband_ui_scree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10698480" cy="32004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800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 Watch Screen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5212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digital time, date, real-time BPM, SpO2%, battery, and connection status. Discrete &amp; dignified.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4800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10s Fall Countdown Screen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26280" y="5212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on fall or SOS. Glowing red halo, audio beeps, haptic vibration. Tap to cancel false alarms.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46720" y="4800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83880" y="4892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SOS Dispatched Screen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83880" y="52120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family &amp; caregiver notified. Displays dispatched GPS location and reassurance prompt.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&amp; EDGE COMPUTING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Hybrid TinyML Fall Detection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IMU Stream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Hz 6-axis sampling of tri-axial acceleration &amp; angular rate.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Free-Fall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Weightlessness detection when total magnitude drops below 0.6g.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Verification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contact collision shock spike exceeding 2.5g threshold.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Immobility &amp; Posture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 post-fall still period (&lt;0.15g variance) for 3-5s.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TINYML NEURAL CLASSIFIER (ESP32-S3 VECTOR EXTENSIONS)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06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Extraction: Sliding window (2.0s with 50% overlap), RMS energy, spectral entropy, jerk rate, and orientation tilt.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517136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Architecture: 1D-CNN (Convolutional Neural Network) quantized to INT8 using TensorFlow Lite for Microcontrollers (TFLM).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82803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Footprint: Model consumes &lt; 22 KB RAM and &lt; 45 KB Flash; executes inference in 8.2 ms on ESP32-S3.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13892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 Positive Elimination: Distinguishes true falls from clapping, jumping, dropping the watch, and sitting abruptly.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544982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 Datasets: Trained and cross-validated on public SisFall, MobiFall, and real elderly movement motion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Emergency Dispatch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FALL DETECTED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+ TinyML confirms fall signature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5544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10s COUNTDOWN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33472" y="2377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Haptics, buzzer &amp; cancel button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52544" y="15544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CLOUD DISPATCH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43984" y="2377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sends TLS POST to Netlify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5544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FIREBASE RTDB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2377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live database record updated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73568" y="15544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WHATSAPP ALERT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65008" y="2377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 dispatches map link to phone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784080" y="155448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17373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LIVE 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0" y="23774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map zooms &amp; alarm sounds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 IS UNSTOPPABLE: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25196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Friction WhatsApp Alerting: Caregivers do NOT need to keep a special proprietary app open; WhatsApp reaches them with sound, push notification, and exact Google Maps link.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63600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Intelligent Rate Limiting: 30-second deduplication prevents multiple SMS/WhatsApp charges and alert fatigue while keeping the fall event recorded.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502005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Geolocation Redundancy: High-precision GNSS GPS outdoors + Wi-Fi/IP Geolocation fallback when indoors without satellite line-of-sight.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540410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Web Dashboard: Built on Firebase Realtime Database for zero-latency bidirectional synchronization with caregivers.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&amp; SOFTWARE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Multi-Tasking &amp; Cloud Integration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CORE 0: TELEMETRY &amp; NETWORK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taskNet (Priority 4): Manages Wi-Fi auto-reconnect, TLS HTTPS POST to /api/vitals and /api/alert, and retry queues.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taskVitals (Priority 3): 100 Hz optical PPG FIFO extraction from MAX30102, sliding window BPM &amp; SpO2 calculation.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taskGPS (Priority 2): Non-blocking UART NMEA stream parser updating lat/lng/accuracy coordinates.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CORE 1: USER INTERFACE &amp; LOGIC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0574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taskLogic (Priority 5): 50 Hz IMU motion processing, TinyML fall inference, debounced capacitive touch &amp; button.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taskOLED / taskUI (Priority 3): Circular LVGL graphics engine updating watchface, countdown ring, and SOS screen.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0" y="3337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Non-blocking Mutex: i2cLock(50ms) guarantees zero I2C bus deadlocks across multiple sensors.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0698480" cy="1737360"/>
          </a:xfrm>
          <a:prstGeom prst="roundRect">
            <a:avLst>
              <a:gd name="adj" fmla="val 5263"/>
            </a:avLst>
          </a:prstGeom>
          <a:solidFill>
            <a:srgbClr val="132247"/>
          </a:solidFill>
          <a:ln w="12700">
            <a:solidFill>
              <a:srgbClr val="00F5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89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PLATFORM: FIREBASE RTDB &amp; FLUTTER COMPANION 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75488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Firebase Realtime Database: Sub-100ms bidirectional sync between wearable hardware and caregivers worldwide.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10235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Cross-Platform Flutter App: Single codebase for Android &amp; iOS with geofencing alerts, health trends, and battery status.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544982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Serverless Edge Handlers (Netlify/Vercel): Validates device HMAC tokens, coordinates Twilio WhatsApp, and triggers Gemini AI summaries.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EVOLUTION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Evolution: From Lab Prototype to 10.8mm Commercial Smartwatch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5" name="Image 0" descr="D:\PROJECTS\safeband\safeband-v2-dashboard\presentation\safeband_exploded_hardw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754880" cy="438912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463040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5544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BENCHTOP PROTOTYPE (COMPLETED)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43600" y="1783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Thickness: 24 mm | Form: Breadboard / 3D-Printed Box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08483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DevKit WROOM, MPU-6050, MAX30102, 0.96" OLED, NEO-6M GPS. Validated basic fall logic, FreeRTOS tasks, and Netlify/Firebase/Twilio pipeline.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60720" y="2926080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30175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CIRCULAR WEARABLE PROTOTYPE (CURRENT)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0" y="3246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Thickness: 15 mm | Form: 1.28" Round Touchscreen Watch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354787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Waveshare ESP32-S3-Touch-LCD-1.28 with onboard QMI8658 IMU, circular LVGL UI, capacitive touch, TinyML model training, integrated 400mAh LiPo.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60720" y="4389120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44805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COMMERCIAL PRODUCTION PRODUCT (TARGET)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Thickness: 10.8 mm | Form: 41.5mm IP68 Slim Ceramic/Alloy Watch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501091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4-layer HDI circular PCB, ST LSM6DSOX Machine Learning IMU, ADI MAX86176 medical PPG, u-blox chip GNSS, magnetic pogo charging, 72-hr battery.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BILL OF MATERIALS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Upgrades: Prototype vs. Commercial Product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46888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D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33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 Prototype (v1)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D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 Prototype (v2)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F5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Product (Target)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&amp;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Controller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ESP32-WROOM-32D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ESP32-S3 (Dual-Core LX7)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ESP32-S3-MINI-1 / nRF5340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AI instructions, 80% smaller footprint, ultra-low sleep 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 &amp; Touch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0.96" Monochrome OLED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1.28" Round Touch LCD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1.28" Circular AMOLED (326 PPI)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Vibrant high-contrast watchface, sun-readable, capacitive touch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 IMU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MPU-6050 (3.8mA, Obsolete)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QMI8658 (6-Axis)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 LSM6DSOX / Bosch BMI270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Machine Learning Core (MLC), 0.55mA, hardware fall interrupt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PPG Bio-Sensor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MAX30102 Breakout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MAX30102 Integrated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 MAX86176 / ADPD188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Medical-grade optical front-end, motion artifact rejection, 1.8mm thin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Geolocation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NEO-6M (25x25mm patch)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Wi-Fi Location + Ext GPS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u-blox MIA-M10Q + LDS Bezel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4.5x4.5mm chip-scale GNSS, laser-direct antenna inside aluminum bezel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&amp;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Power / LiPo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mAh LiPo (Type-C)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 mAh Custom LiPo + Pogo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2-pin waterproof dock, 48-72h runtime, 1 hr fast charge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Thickness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 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 mm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 mm (Ultra-Slim)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with Apple Watch (10.7mm) and Galaxy Watch (9.8mm)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&amp; RELIABILITY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Endurance, Safety &amp; Thermal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Ultra-Low Power Idle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 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off, CPU in deep sleep. LSM6DSOX hardware motion interrupt listens for movement.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Watchface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15 - 20 mA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at 40% brightness, LVGL UI rendering, BLE advertising, optical vitals sampling.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Computation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25 - 30 mA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@ 160MHz executing pulse peak detection &amp; SpO2 algorithm for 2 seconds.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46304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6002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 TX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982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110 - 130 mA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24231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TX burst, buzzer audio beeps, haptic vibration, and TLS POST to cloud.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0698480" cy="2286000"/>
          </a:xfrm>
          <a:prstGeom prst="roundRect">
            <a:avLst>
              <a:gd name="adj" fmla="val 4000"/>
            </a:avLst>
          </a:prstGeom>
          <a:solidFill>
            <a:srgbClr val="132247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MULTI-LAYERED SAFETY &amp; HARDWARE PROTECTION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5196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Battery Protection IC: Dedicated Texas Instruments BQ2970 IC protects against over-charge, over-discharge, short-circuit, and reverse polarity.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57200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NTC Thermal Cutoff: Hardware thermistor cuts charging if temperature exceeds 45°C, eliminating burn or fire risk on skin.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89204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Watchdog Timers: FreeRTOS task watchdog + ESP32 hardware interrupt watchdog guarantees instant reboot if any task freezes.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521208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Biocompatible Enclosure: Ceramic back plate and medical-grade fluoroelastomer strap prevents skin irritation or dermatitis during 24/7 wear.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5532120"/>
            <a:ext cx="10058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IP68 Waterproofing: Hermetically sealed ultrasonic-welded case allows wearing in the shower (where 80% of elderly bathroom falls occur).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REGULATORY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Validation &amp; Medical Compliance Pathway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Algorithm Benchmarking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Evaluated against SisFall dataset (4,510 simulated falls and activities of daily living across 38 subjects).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Achieved 97.4% Fall Sensitivity and 96.8% Specificity in preliminary lab testing.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False-Alarm Rate target: &lt; 1 false trigger per 120 hours of continuous active use.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 validation with elderly volunteers and crash-mat test protocols.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Consumer &amp; Medical Regulatory Roadmap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 (Consumer Wellness): FCC Part 15, CE RED (Radio Equipment Directive), RoHS, and WEEE certification.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3063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 (Medical Device Readiness): ISO 13485 (Medical Device Quality Management System).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931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IEC 60601-1: Medical electrical safety and electromagnetic compatibility (EMC).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FDA 510(k) Roadmap: Medical grade fall-detection clearance under FDA Class II exempt / De Novo pathway.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POTENTIAL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Size, Pricing &amp; Multi-Tier Revenue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$24.8B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Elderly Care 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market by 2028 (12.4% CAGR)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Billion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Population 60+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2030, 1 in 6 people globally will be aged 60 or over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₹3,999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 Price Point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more affordable than Apple Watch / Medical Pendants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 &amp; MONETIZATION: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Hardware Sales (B2C)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hardware purchase: ₹3,999 - ₹4,999 ($49 - $59).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free lifetime basic WhatsApp alert dispatch and live location sharing.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657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Caregiver SaaS (Freemium)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₹299 / month ($3.99/mo):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vitals analytics, automated weekly doctor PDF export, multi-caregiver escalation tree, and voice call dispatch.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3657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840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Enterprise B2B Licensing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4297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Living Facilities &amp; Hospitals: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device leasing + centralized nurse monitoring station software with floor-plan location beacon integration.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 &amp; Commercialization Milestones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(COMPLETED)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1 - 4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&amp; 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Bench prototype tested on ESP32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Netlify &amp; Firebase RTDB 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Twilio WhatsApp automated dispatch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caregiver monitor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146304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(CURRENT)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2 - 3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Circular Wearable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1.28" Round Touch LCD integration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11880" y="3429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LVGL watchface &amp; countdown 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Edge Impulse TinyML model training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1188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3D-printed sleek wrist enclosure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46304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(NEXT)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4 - 6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10.8mm HDI PCB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4-layer HDI circular PCB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3429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 LSM6DSOX + ADI PPG integration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IP68 aluminum case CNC tooling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clinical trial (50 seniors)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61120" y="1463040"/>
            <a:ext cx="2468880" cy="4389120"/>
          </a:xfrm>
          <a:prstGeom prst="roundRect">
            <a:avLst>
              <a:gd name="adj" fmla="val 3704"/>
            </a:avLst>
          </a:prstGeom>
          <a:solidFill>
            <a:srgbClr val="132247"/>
          </a:solidFill>
          <a:ln w="19050">
            <a:solidFill>
              <a:srgbClr val="FF3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(LAUNCH)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98280" y="1920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7 - 9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9828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Production &amp; Go-to-Market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9828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FCC / CE pre-compliance testing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98280" y="3429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Tooling for mass injection molding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98280" y="4023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 1,000 unit manufacturing batch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98280" y="4617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D2C launch &amp; eldercare partnerships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SafeBand: Transforming Fall Safety from Stigma to Style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Wearer Dignity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stigmatizing medical pendants. A genuine circular digital watch that seniors love to wear 24/7.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thresholding + On-Device TinyML reduces false alarms by over 95%.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32247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Zero-Friction Alerting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WhatsApp dispatch with exact Google Maps location. No apps to install for family.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10698480" cy="1920240"/>
          </a:xfrm>
          <a:prstGeom prst="roundRect">
            <a:avLst>
              <a:gd name="adj" fmla="val 4762"/>
            </a:avLst>
          </a:prstGeom>
          <a:solidFill>
            <a:srgbClr val="132247"/>
          </a:solidFill>
          <a:ln w="19050">
            <a:solidFill>
              <a:srgbClr val="00F5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&amp; PARTNERSHIP OPPORTUNITY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Seed Investment &amp; Manufacturing Partnerships to fund: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Custom 4-Layer 10.8mm HDI PCB engineering and mold tooling.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Pilot clinical trial deployment across 50 senior living residents.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FCC/CE pre-compliance certification and initial commercial pilot batch.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SafeBand MedTech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SafeBand: Autonomous AI Fall Detection &amp; Vitals Wearable</dc:title>
  <dc:subject>PptxGenJS Presentation</dc:subject>
  <dc:creator>SafeBand Engineering Team</dc:creator>
  <cp:lastModifiedBy>SafeBand Engineering Team</cp:lastModifiedBy>
  <cp:revision>1</cp:revision>
  <dcterms:created xsi:type="dcterms:W3CDTF">2026-10-13T03:11:32Z</dcterms:created>
  <dcterms:modified xsi:type="dcterms:W3CDTF">2026-10-13T03:11:32Z</dcterms:modified>
</cp:coreProperties>
</file>